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9156a9a6-fff4-5aa6-5b9f-ea64fdd41d5a}">
          <p14:sldIdLst>
            <p14:sldId id="256"/>
            <p14:sldId id="257"/>
            <p14:sldId id="258"/>
          </p14:sldIdLst>
        </p14:section>
        <p14:section name="Logotipo" id="{1352e2f4-1ba2-f267-9c8d-9f20d5d1e33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olor y tipografía" id="{2feb56de-9ba9-9194-6fb7-506aa863f079}">
          <p14:sldIdLst>
            <p14:sldId id="265"/>
            <p14:sldId id="266"/>
            <p14:sldId id="267"/>
            <p14:sldId id="268"/>
          </p14:sldIdLst>
        </p14:section>
        <p14:section name="Aplicaciones" id="{6f00717e-e352-95c2-62f2-c878f30f6bb1}">
          <p14:sldIdLst>
            <p14:sldId id="269"/>
            <p14:sldId id="270"/>
            <p14:sldId id="271"/>
            <p14:sldId id="272"/>
          </p14:sldIdLst>
        </p14:section>
        <p14:section name="Redes y WhatsApp" id="{48d810c7-af5e-2944-fec4-1b43ee054626}">
          <p14:sldIdLst>
            <p14:sldId id="273"/>
            <p14:sldId id="274"/>
            <p14:sldId id="275"/>
            <p14:sldId id="276"/>
            <p14:sldId id="277"/>
          </p14:sldIdLst>
        </p14:section>
        <p14:section name="Cierre" id="{c4599f54-66db-2423-999c-29824176c619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Comercial Lismi pertenece a Grupo Montex: comparte sistema gráfico con Montex y conserva logotipo y paleta propios.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LISMI_PORTAD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MI_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ETIQUETA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240280"/>
            <a:ext cx="7772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Título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931920"/>
            <a:ext cx="6858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Subtítulo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MI_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ismi/dimg/ring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5029200" cy="5029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737360"/>
            <a:ext cx="3657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01</a:t>
            </a:r>
            <a:endParaRPr lang="en-US" sz="8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301752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Sección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4343400"/>
            <a:ext cx="6217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D9DCEB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D9DCEB"/>
                </a:solidFill>
              </a:rPr>
              <a:t>Descripción</a:t>
            </a:r>
            <a:endParaRPr lang="en-US" sz="1600" dirty="0"/>
          </a:p>
        </p:txBody>
      </p:sp>
      <p:pic>
        <p:nvPicPr>
          <p:cNvPr id="6" name="Image 1" descr="/home/claude/lismi/dimg/Lismi-H_negativo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920"/>
            <a:ext cx="2194560" cy="6108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MI_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ismi/dimg/Lismi-H_posi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84048"/>
            <a:ext cx="1600200" cy="44514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ETIQUETA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Título</a:t>
            </a:r>
            <a:endParaRPr lang="en-US" sz="30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Comercial Lismi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MI_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ismi/dimg/Lismi-H_negativo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11480"/>
            <a:ext cx="1691640" cy="4708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ETIQUETA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Título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9B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GUÍA DE USO DE MARCA · 2026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2402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Brand guidelines Comercial Lismi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931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Logotipos, color, tipografía, aplicaciones, redes sociales y WhatsApp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INTRODUCCIÓN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Tres principios para usar bien la marca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2A7AB8"/>
          </a:solidFill>
          <a:ln w="12700">
            <a:solidFill>
              <a:srgbClr val="2A7AB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40864"/>
            <a:ext cx="393192" cy="3931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Coherencia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57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siempre los archivos oficiales del kit y las mismas versiones en todos los canales.</a:t>
            </a:r>
            <a:endParaRPr lang="en-US" sz="1500" dirty="0"/>
          </a:p>
        </p:txBody>
      </p:sp>
      <p:sp>
        <p:nvSpPr>
          <p:cNvPr id="9" name="card1"/>
          <p:cNvSpPr/>
          <p:nvPr/>
        </p:nvSpPr>
        <p:spPr>
          <a:xfrm>
            <a:off x="429768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148840"/>
            <a:ext cx="777240" cy="777240"/>
          </a:xfrm>
          <a:prstGeom prst="ellipse">
            <a:avLst/>
          </a:prstGeom>
          <a:solidFill>
            <a:srgbClr val="ED7E2F"/>
          </a:solidFill>
          <a:ln w="12700">
            <a:solidFill>
              <a:srgbClr val="ED7E2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34086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Respeto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657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modifiques, redibujes ni recolorees el anillo ni el logotipo.</a:t>
            </a:r>
            <a:endParaRPr lang="en-US" sz="1500" dirty="0"/>
          </a:p>
        </p:txBody>
      </p:sp>
      <p:sp>
        <p:nvSpPr>
          <p:cNvPr id="14" name="card2"/>
          <p:cNvSpPr/>
          <p:nvPr/>
        </p:nvSpPr>
        <p:spPr>
          <a:xfrm>
            <a:off x="804672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148840"/>
            <a:ext cx="777240" cy="777240"/>
          </a:xfrm>
          <a:prstGeom prst="ellipse">
            <a:avLst/>
          </a:prstGeom>
          <a:solidFill>
            <a:srgbClr val="4E8A2E"/>
          </a:solidFill>
          <a:ln w="12700">
            <a:solidFill>
              <a:srgbClr val="4E8A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340864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6576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Lismi y Montex comparten reglas y sistema gráfico: distinta marca, mismo grupo.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ARQUITECTURA DE MARCA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Identidad propia dentro de Grupo Montex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</p:spPr>
      </p:sp>
      <p:pic>
        <p:nvPicPr>
          <p:cNvPr id="5" name="Montex-H_positivo.png" descr="Montex-H_posi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158317"/>
            <a:ext cx="2560320" cy="3468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madre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1691640"/>
            <a:ext cx="578815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</p:spPr>
      </p:sp>
      <p:pic>
        <p:nvPicPr>
          <p:cNvPr id="8" name="Lismi-H-PM_positivo.png" descr="Lismi-H-PM_positiv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833" y="1828800"/>
            <a:ext cx="2619375" cy="914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52160" y="27889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Lismi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Compartido con Montex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Propio de Comercial Lismi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Tipografía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Outfit · Arial como fuente de sistema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Patrón gráfico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Bandas escalonadas, misma composición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Tintes fríos o cálidos del anillo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Aire arriba, bandas abajo, logo arriba a la izquierda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«Partner de Montex» discreto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Logotipo y color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Anillo de tres palas y su paleta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1737360"/>
            <a:ext cx="36576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30175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Logotipo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85800" y="43434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DCEB"/>
                </a:solidFill>
              </a:rPr>
              <a:t>Versiones, color, área de respeto, usos incorrectos y Partner de Montex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VERSIONES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Elige la versión según el espacio disponible</a:t>
            </a:r>
            <a:endParaRPr lang="en-US" sz="3000" dirty="0"/>
          </a:p>
        </p:txBody>
      </p:sp>
      <p:pic>
        <p:nvPicPr>
          <p:cNvPr id="4" name="Lismi-H_positivo.png" descr="Lismi-H_posi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50995"/>
            <a:ext cx="3291840" cy="9157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063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Lismi-H · Horizontal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preferente</a:t>
            </a:r>
            <a:endParaRPr lang="en-US" sz="1300" dirty="0"/>
          </a:p>
        </p:txBody>
      </p:sp>
      <p:pic>
        <p:nvPicPr>
          <p:cNvPr id="6" name="Lismi-H-PM_positivo.png" descr="Lismi-H-PM_positiv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34284"/>
            <a:ext cx="3291840" cy="11491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43400" y="3063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Lismi-H-PM · Con Partner de Montex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Papelería y piezas institucionales</a:t>
            </a:r>
            <a:endParaRPr lang="en-US" sz="1300" dirty="0"/>
          </a:p>
        </p:txBody>
      </p:sp>
      <p:pic>
        <p:nvPicPr>
          <p:cNvPr id="8" name="Lismi-S_positivo.png" descr="Lismi-S_positiv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0" y="1645920"/>
            <a:ext cx="1325880" cy="13258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0" y="3063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Lismi-S · Símbolo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Perfil, favicon, elemento gráfico</a:t>
            </a:r>
            <a:endParaRPr lang="en-US" sz="1300" dirty="0"/>
          </a:p>
        </p:txBody>
      </p:sp>
      <p:pic>
        <p:nvPicPr>
          <p:cNvPr id="10" name="Lismi-V_positivo.png" descr="Lismi-V_positiv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690" y="3886200"/>
            <a:ext cx="2095500" cy="13258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48640" y="5303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Lismi-V · Vertical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Tarjetas, carteles, firma</a:t>
            </a:r>
            <a:endParaRPr lang="en-US" sz="1300" dirty="0"/>
          </a:p>
        </p:txBody>
      </p:sp>
      <p:pic>
        <p:nvPicPr>
          <p:cNvPr id="12" name="Lismi-V-PM_positivo.png" descr="Lismi-V-PM_positiv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126" y="3886200"/>
            <a:ext cx="1732147" cy="132588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343400" y="5303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Lismi-V-PM · Vertical con Partner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y carteles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8138160" y="4206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en color, negativo y una tinta (-1T), en PNG, SVG y PDF.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APLICACIÓN CROMÁTICA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Positivo, negativo y una tinta</a:t>
            </a:r>
            <a:endParaRPr lang="en-US" sz="3000" dirty="0"/>
          </a:p>
        </p:txBody>
      </p:sp>
      <p:pic>
        <p:nvPicPr>
          <p:cNvPr id="4" name="uso_ok_pos.png" descr="uso_ok_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3164"/>
            <a:ext cx="3566160" cy="2218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069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blanco o muy claro. Opción preferente.</a:t>
            </a:r>
            <a:endParaRPr lang="en-US" sz="1400" dirty="0"/>
          </a:p>
        </p:txBody>
      </p:sp>
      <p:pic>
        <p:nvPicPr>
          <p:cNvPr id="6" name="uso_ok_neg.png" descr="uso_ok_n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93164"/>
            <a:ext cx="3566160" cy="22189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43400" y="4069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oscuros neutros: el anillo mantiene sus degradados.</a:t>
            </a:r>
            <a:endParaRPr lang="en-US" sz="1400" dirty="0"/>
          </a:p>
        </p:txBody>
      </p:sp>
      <p:pic>
        <p:nvPicPr>
          <p:cNvPr id="8" name="uso_ok_1t.png" descr="uso_ok_1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93164"/>
            <a:ext cx="3566160" cy="22189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0" y="4069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tinta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Impresión monocolor, sellos, grabados y bordado.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48640" y="51206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77240" y="5120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fondos de color intenso: el anillo pierde contraste. Si no hay alternativa, usa la versión de una tinta en blanco.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REGLAS DE CONSTRUCCIÓN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Deja aire alrededor y respeta el tamaño mínimo</a:t>
            </a:r>
            <a:endParaRPr lang="en-US" sz="3000" dirty="0"/>
          </a:p>
        </p:txBody>
      </p:sp>
      <p:pic>
        <p:nvPicPr>
          <p:cNvPr id="4" name="area_respeto.png" descr="area_resp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3675"/>
            <a:ext cx="5120640" cy="22533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altura de la «C» de Comercial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91640"/>
          <a:ext cx="551383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17320"/>
                <a:gridCol w="14447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Pantalla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Horizontal con Partner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mm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Vertical con Partner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mm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Símbolo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mm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126480" y="4206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bordado, el anillo va a una tinta por debajo de 25 mm de diámetro.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LO QUE NO SE DEBE HACER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logotipo no se modifica nunca</a:t>
            </a:r>
            <a:endParaRPr lang="en-US" sz="3000" dirty="0"/>
          </a:p>
        </p:txBody>
      </p:sp>
      <p:pic>
        <p:nvPicPr>
          <p:cNvPr id="4" name="uso_deformar.png" descr="uso_deform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409" y="1645920"/>
            <a:ext cx="3012621" cy="1874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deformar</a:t>
            </a:r>
            <a:endParaRPr lang="en-US" sz="1300" dirty="0"/>
          </a:p>
        </p:txBody>
      </p:sp>
      <p:pic>
        <p:nvPicPr>
          <p:cNvPr id="6" name="uso_colores.png" descr="uso_colo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289" y="1645920"/>
            <a:ext cx="3012621" cy="1874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43484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recolorear el anillo</a:t>
            </a:r>
            <a:endParaRPr lang="en-US" sz="1300" dirty="0"/>
          </a:p>
        </p:txBody>
      </p:sp>
      <p:pic>
        <p:nvPicPr>
          <p:cNvPr id="8" name="uso_rotar.png" descr="uso_ro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169" y="1645920"/>
            <a:ext cx="3012621" cy="1874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04672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girar</a:t>
            </a:r>
            <a:endParaRPr lang="en-US" sz="1300" dirty="0"/>
          </a:p>
        </p:txBody>
      </p:sp>
      <p:pic>
        <p:nvPicPr>
          <p:cNvPr id="10" name="uso_efectos.png" descr="uso_efect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09" y="4023360"/>
            <a:ext cx="3012621" cy="18745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22960" y="5943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añadir efectos</a:t>
            </a:r>
            <a:endParaRPr lang="en-US" sz="1300" dirty="0"/>
          </a:p>
        </p:txBody>
      </p:sp>
      <p:pic>
        <p:nvPicPr>
          <p:cNvPr id="12" name="uso_contraste.png" descr="uso_contras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7289" y="4023360"/>
            <a:ext cx="3012621" cy="187452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434840" y="5943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usar fondos intensos</a:t>
            </a:r>
            <a:endParaRPr lang="en-US" sz="1300" dirty="0"/>
          </a:p>
        </p:txBody>
      </p:sp>
      <p:pic>
        <p:nvPicPr>
          <p:cNvPr id="14" name="uso_recomponer.png" descr="uso_recompon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9169" y="4023360"/>
            <a:ext cx="3012621" cy="187452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046720" y="5943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recomponer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PARTNER DE MONTEX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Montex se ve, pero Lismi es la protagonista</a:t>
            </a:r>
            <a:endParaRPr lang="en-US" sz="3000" dirty="0"/>
          </a:p>
        </p:txBody>
      </p:sp>
      <p:pic>
        <p:nvPicPr>
          <p:cNvPr id="4" name="Lismi-H-PM_positivo.png" descr="Lismi-H-PM_posi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1105" y="1691640"/>
            <a:ext cx="523875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840480"/>
            <a:ext cx="6858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</a:rPr>
              <a:t>«Partner de» + logotipo de Montex, en pequeño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</a:rPr>
              <a:t>Montex mide como máximo un 30 % de la altura del logo de Lismi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</a:rPr>
              <a:t>En lockups, debajo del nombre; en piezas, abajo a la derecha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</a:rPr>
              <a:t>Nunca fusionar el anillo con las barras ni usar «Confidence at work»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0" y="1691640"/>
            <a:ext cx="3867912" cy="4114800"/>
          </a:xfrm>
          <a:prstGeom prst="roundRect">
            <a:avLst>
              <a:gd name="adj" fmla="val 2364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pic>
        <p:nvPicPr>
          <p:cNvPr id="7" name="Portada_LinkedIn_1584x396_frio.png" descr="Portada_LinkedIn_1584x396_f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973961"/>
            <a:ext cx="3410712" cy="85267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01000" y="3063240"/>
            <a:ext cx="34107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portadas, fondos y publicaciones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firma «Partner de Montex» va abajo a la derecha, en pequeño, donde Montex coloca su eslogan.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1737360"/>
            <a:ext cx="36576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30175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Color y tipografía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85800" y="43434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DCEB"/>
                </a:solidFill>
              </a:rPr>
              <a:t>Paleta del anillo, Outfit y patrón de bandas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COLOR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paleta nace de los degradados del anillo</a:t>
            </a:r>
            <a:endParaRPr lang="en-US" sz="3000" dirty="0"/>
          </a:p>
        </p:txBody>
      </p:sp>
      <p:sp>
        <p:nvSpPr>
          <p:cNvPr id="4" name="swatch-Azul Lismi"/>
          <p:cNvSpPr/>
          <p:nvPr/>
        </p:nvSpPr>
        <p:spPr>
          <a:xfrm>
            <a:off x="548640" y="1691640"/>
            <a:ext cx="1764792" cy="2743200"/>
          </a:xfrm>
          <a:prstGeom prst="rect">
            <a:avLst/>
          </a:prstGeom>
          <a:solidFill>
            <a:srgbClr val="2A7AB8"/>
          </a:solidFill>
          <a:ln w="12700">
            <a:solidFill>
              <a:srgbClr val="2A7A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337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Lismi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#2A7AB8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42 · 122 · 184</a:t>
            </a:r>
            <a:endParaRPr lang="en-US" sz="1100" dirty="0"/>
          </a:p>
        </p:txBody>
      </p:sp>
      <p:sp>
        <p:nvSpPr>
          <p:cNvPr id="6" name="swatch-Verde Lismi"/>
          <p:cNvSpPr/>
          <p:nvPr/>
        </p:nvSpPr>
        <p:spPr>
          <a:xfrm>
            <a:off x="2404872" y="1691640"/>
            <a:ext cx="1764792" cy="2743200"/>
          </a:xfrm>
          <a:prstGeom prst="rect">
            <a:avLst/>
          </a:prstGeom>
          <a:solidFill>
            <a:srgbClr val="4E8A2E"/>
          </a:solidFill>
          <a:ln w="12700">
            <a:solidFill>
              <a:srgbClr val="4E8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3337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Lismi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#4E8A2E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78 · 138 · 46</a:t>
            </a:r>
            <a:endParaRPr lang="en-US" sz="1100" dirty="0"/>
          </a:p>
        </p:txBody>
      </p:sp>
      <p:sp>
        <p:nvSpPr>
          <p:cNvPr id="8" name="swatch-Lima Lismi"/>
          <p:cNvSpPr/>
          <p:nvPr/>
        </p:nvSpPr>
        <p:spPr>
          <a:xfrm>
            <a:off x="4261104" y="1691640"/>
            <a:ext cx="1764792" cy="2743200"/>
          </a:xfrm>
          <a:prstGeom prst="rect">
            <a:avLst/>
          </a:prstGeom>
          <a:solidFill>
            <a:srgbClr val="C8CF0A"/>
          </a:solidFill>
          <a:ln w="12700">
            <a:solidFill>
              <a:srgbClr val="C8CF0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8264" y="3337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Lismi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#C8CF0A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200 · 207 · 10</a:t>
            </a:r>
            <a:endParaRPr lang="en-US" sz="1100" dirty="0"/>
          </a:p>
        </p:txBody>
      </p:sp>
      <p:sp>
        <p:nvSpPr>
          <p:cNvPr id="10" name="swatch-Naranja Lismi"/>
          <p:cNvSpPr/>
          <p:nvPr/>
        </p:nvSpPr>
        <p:spPr>
          <a:xfrm>
            <a:off x="6117336" y="1691640"/>
            <a:ext cx="1764792" cy="2743200"/>
          </a:xfrm>
          <a:prstGeom prst="rect">
            <a:avLst/>
          </a:prstGeom>
          <a:solidFill>
            <a:srgbClr val="ED7E2F"/>
          </a:solidFill>
          <a:ln w="12700">
            <a:solidFill>
              <a:srgbClr val="ED7E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54496" y="3337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Naranja Lismi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#ED7E2F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237 · 126 · 47</a:t>
            </a:r>
            <a:endParaRPr lang="en-US" sz="1100" dirty="0"/>
          </a:p>
        </p:txBody>
      </p:sp>
      <p:sp>
        <p:nvSpPr>
          <p:cNvPr id="12" name="swatch-Azul profundo"/>
          <p:cNvSpPr/>
          <p:nvPr/>
        </p:nvSpPr>
        <p:spPr>
          <a:xfrm>
            <a:off x="7973568" y="1691640"/>
            <a:ext cx="1764792" cy="2743200"/>
          </a:xfrm>
          <a:prstGeom prst="rect">
            <a:avLst/>
          </a:prstGeom>
          <a:solidFill>
            <a:srgbClr val="2E2E65"/>
          </a:solidFill>
          <a:ln w="12700">
            <a:solidFill>
              <a:srgbClr val="2E2E6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10728" y="3337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profundo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#2E2E65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46 · 46 · 101</a:t>
            </a:r>
            <a:endParaRPr lang="en-US" sz="1100" dirty="0"/>
          </a:p>
        </p:txBody>
      </p:sp>
      <p:sp>
        <p:nvSpPr>
          <p:cNvPr id="14" name="swatch-Antracita"/>
          <p:cNvSpPr/>
          <p:nvPr/>
        </p:nvSpPr>
        <p:spPr>
          <a:xfrm>
            <a:off x="9829800" y="1691640"/>
            <a:ext cx="1764792" cy="2743200"/>
          </a:xfrm>
          <a:prstGeom prst="rect">
            <a:avLst/>
          </a:prstGeom>
          <a:solidFill>
            <a:srgbClr val="1D1D1B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66960" y="3337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Antracita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#1D1D1B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29 · 29 · 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Principales: </a:t>
            </a:r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azul, verde, lima y naranja, como acentos y en el patrón. </a:t>
            </a:r>
            <a:pPr indent="0" marL="0">
              <a:buNone/>
            </a:pPr>
            <a:r>
              <a:rPr lang="en-US" sz="15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Apoyo: </a:t>
            </a:r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profundo para titulares y antracita para textos y fondos oscuros. La lima nunca se usa para textos.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CMYK y Pantone de referencia a validar con la imprenta antes de la primera tirada.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TIPOGRAFÍA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Outfit, la tipografía del grupo</a:t>
            </a:r>
            <a:endParaRPr lang="en-US" sz="3000" dirty="0"/>
          </a:p>
        </p:txBody>
      </p:sp>
      <p:pic>
        <p:nvPicPr>
          <p:cNvPr id="4" name="tipografia.png" descr="tip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98320"/>
            <a:ext cx="5852160" cy="3901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173736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</a:rPr>
              <a:t>Black: titulares, cifras y mensajes cortos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</a:rPr>
              <a:t>Regular: textos y datos de contacto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</a:rPr>
              <a:t>Thin: frases grandes y destacadas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</a:rPr>
              <a:t>Arial en correo y documentos de Office compartidos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1D1B"/>
                </a:solidFill>
              </a:rPr>
              <a:t>El nombre del logotipo no se reescribe con ninguna fuente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RECURSOS GRÁFICOS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patrón de bandas de Montex, en los colores de Lismi</a:t>
            </a:r>
            <a:endParaRPr lang="en-US" sz="3000" dirty="0"/>
          </a:p>
        </p:txBody>
      </p:sp>
      <p:pic>
        <p:nvPicPr>
          <p:cNvPr id="4" name="Fondo_escritorio_videollamada_frio.png" descr="Fondo_escritorio_videollamada_f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714" y="1691640"/>
            <a:ext cx="5394812" cy="3035808"/>
          </a:xfrm>
          <a:prstGeom prst="rect">
            <a:avLst/>
          </a:prstGeom>
        </p:spPr>
      </p:pic>
      <p:pic>
        <p:nvPicPr>
          <p:cNvPr id="5" name="Fondo_escritorio_videollamada_calido.png" descr="Fondo_escritorio_videollamada_cali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426" y="1691640"/>
            <a:ext cx="5394812" cy="30358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800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fría · por defecto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245352" y="4800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 cálida · campañas y promociones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geometría y composición que Montex: aire arriba, bandas abajo, logo arriba a la izquierda.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1737360"/>
            <a:ext cx="36576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30175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Aplicaciones corporativas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85800" y="43434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DCEB"/>
                </a:solidFill>
              </a:rPr>
              <a:t>Firma, tarjeta, papel de carta, sello y fondos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FIRMA DE CORREO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Una firma igual para todo el equipo</a:t>
            </a:r>
            <a:endParaRPr lang="en-US" sz="3000" dirty="0"/>
          </a:p>
        </p:txBody>
      </p:sp>
      <p:pic>
        <p:nvPicPr>
          <p:cNvPr id="4" name="Especificaciones_firma_email_Lismi.png" descr="Especificaciones_firma_email_Lis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6893"/>
            <a:ext cx="6035040" cy="3818534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691640"/>
          <a:ext cx="46908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8620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Logotipo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Lismi-V · 120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y cargo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Arial 15 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Arial 12 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 legal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Arial 9 pt · azul profundo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949440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frases, banners ni iconos que no estén aprobados.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PAPELERÍA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Tarjeta de visita, papel de carta y sello</a:t>
            </a:r>
            <a:endParaRPr lang="en-US" sz="3000" dirty="0"/>
          </a:p>
        </p:txBody>
      </p:sp>
      <p:pic>
        <p:nvPicPr>
          <p:cNvPr id="4" name="Tarjeta_anverso_55x85_sangrado3mm.png" descr="Tarjeta_anverso_55x85_sangrado3m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23607"/>
            <a:ext cx="1920240" cy="2862146"/>
          </a:xfrm>
          <a:prstGeom prst="rect">
            <a:avLst/>
          </a:prstGeom>
        </p:spPr>
      </p:pic>
      <p:pic>
        <p:nvPicPr>
          <p:cNvPr id="5" name="Tarjeta_reverso_55x85_sangrado3mm.png" descr="Tarjeta_reverso_55x85_sangrado3m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723607"/>
            <a:ext cx="1920240" cy="286214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 55 × 85 mm con 3 mm de sangrado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846320" y="1645920"/>
            <a:ext cx="2240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9"/>
            </a:solidFill>
            <a:prstDash val="solid"/>
          </a:ln>
        </p:spPr>
      </p:sp>
      <p:pic>
        <p:nvPicPr>
          <p:cNvPr id="8" name="Papel_de_carta_Comercial_Lismi.png" descr="Papel_de_carta_Comercial_Lism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953" y="1664208"/>
            <a:ext cx="2173013" cy="30723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846320" y="4846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de carta A4</a:t>
            </a:r>
            <a:endParaRPr lang="en-US" sz="1200" dirty="0"/>
          </a:p>
        </p:txBody>
      </p:sp>
      <p:pic>
        <p:nvPicPr>
          <p:cNvPr id="10" name="Sello_Comercial_Lismi_negro.png" descr="Sello_Comercial_Lismi_neg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945594"/>
            <a:ext cx="4206240" cy="177809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406640" y="3931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redibujado en vectorial a partir del sello físico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PANTALLAS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Fondos de escritorio y videollamada</a:t>
            </a:r>
            <a:endParaRPr lang="en-US" sz="3000" dirty="0"/>
          </a:p>
        </p:txBody>
      </p:sp>
      <p:pic>
        <p:nvPicPr>
          <p:cNvPr id="4" name="Fondo_escritorio_videollamada_frio.png" descr="Fondo_escritorio_videollamada_f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822" y="1691640"/>
            <a:ext cx="5849796" cy="3291840"/>
          </a:xfrm>
          <a:prstGeom prst="rect">
            <a:avLst/>
          </a:prstGeom>
        </p:spPr>
      </p:pic>
      <p:pic>
        <p:nvPicPr>
          <p:cNvPr id="5" name="Fondo_iPad_calido.png" descr="Fondo_iPad_cali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92388"/>
            <a:ext cx="4937760" cy="32903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3840 × 2160 px en variante fría y cálida, y versión para iPad. Válidos para Teams, Zoom y Meet.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85800" y="1737360"/>
            <a:ext cx="36576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04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85800" y="30175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Redes sociales y WhatsApp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85800" y="43434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DCEB"/>
                </a:solidFill>
              </a:rPr>
              <a:t>Avatares, portadas, publicaciones y mensajería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DCE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FOTO DE PERFIL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El anillo funciona incluso a tamaño mínimo</a:t>
            </a:r>
            <a:endParaRPr lang="en-US" sz="3000" dirty="0"/>
          </a:p>
        </p:txBody>
      </p:sp>
      <p:pic>
        <p:nvPicPr>
          <p:cNvPr id="4" name="prev_Avatar_simbolo_frio.png" descr="prev_Avatar_simbolo_f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Símbolo · frío (recomendado)</a:t>
            </a:r>
            <a:endParaRPr lang="en-US" sz="1200" dirty="0"/>
          </a:p>
        </p:txBody>
      </p:sp>
      <p:pic>
        <p:nvPicPr>
          <p:cNvPr id="6" name="prev_Avatar_simbolo_calido.png" descr="prev_Avatar_simbolo_cali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1920240" cy="1920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5176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Símbolo · cálido</a:t>
            </a:r>
            <a:endParaRPr lang="en-US" sz="1200" dirty="0"/>
          </a:p>
        </p:txBody>
      </p:sp>
      <p:pic>
        <p:nvPicPr>
          <p:cNvPr id="8" name="prev_Avatar_logo_frio.png" descr="prev_Avatar_logo_fr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28800"/>
            <a:ext cx="1920240" cy="19202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84632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vertical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783080"/>
          <a:ext cx="4233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562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Tamaño mínimo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/ 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× 400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 / Facebook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 × 320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 × 800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 Business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 × 640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siempre el archivo de 1080 × 1080 px del kit: el recorte circular ya está previsto.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PORTADAS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Portadas con la composición del grupo</a:t>
            </a:r>
            <a:endParaRPr lang="en-US" sz="3000" dirty="0"/>
          </a:p>
        </p:txBody>
      </p:sp>
      <p:pic>
        <p:nvPicPr>
          <p:cNvPr id="4" name="mock_linkedin.png" descr="mock_linked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7182"/>
            <a:ext cx="6217920" cy="2732116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691640"/>
          <a:ext cx="45079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13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Plataforma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Tamaño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E6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1584 × 396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(Twitter)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 × 500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1640 × 624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1D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2560 × 1440 px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avatar tapa la esquina inferior izquierda y el móvil recorta los lados: nada importante en esas zonas. Todas existen en variante fría y cálida.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PUBLICACIONES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Plantillas listas: solo hay que escribir el mensaje</a:t>
            </a:r>
            <a:endParaRPr lang="en-US" sz="3000" dirty="0"/>
          </a:p>
        </p:txBody>
      </p:sp>
      <p:pic>
        <p:nvPicPr>
          <p:cNvPr id="4" name="ejemplo_post.png" descr="ejemplo_p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743200" cy="2743200"/>
          </a:xfrm>
          <a:prstGeom prst="rect">
            <a:avLst/>
          </a:prstGeom>
        </p:spPr>
      </p:pic>
      <p:pic>
        <p:nvPicPr>
          <p:cNvPr id="5" name="ejemplo_story.png" descr="ejemplo_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271" y="1645920"/>
            <a:ext cx="1543673" cy="2743200"/>
          </a:xfrm>
          <a:prstGeom prst="rect">
            <a:avLst/>
          </a:prstGeom>
        </p:spPr>
      </p:pic>
      <p:pic>
        <p:nvPicPr>
          <p:cNvPr id="6" name="ejemplo_enlace.png" descr="ejemplo_enl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646751"/>
            <a:ext cx="2743200" cy="143394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366760" y="1645920"/>
            <a:ext cx="548640" cy="548640"/>
          </a:xfrm>
          <a:prstGeom prst="ellipse">
            <a:avLst/>
          </a:prstGeom>
          <a:solidFill>
            <a:srgbClr val="ED7E2F"/>
          </a:solidFill>
          <a:ln w="12700">
            <a:solidFill>
              <a:srgbClr val="ED7E2F"/>
            </a:solidFill>
            <a:prstDash val="solid"/>
          </a:ln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783080"/>
            <a:ext cx="274320" cy="27432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052560" y="162763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arriba a la izquierda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la misma posición</a:t>
            </a:r>
            <a:endParaRPr lang="en-US" sz="1400" dirty="0"/>
          </a:p>
        </p:txBody>
      </p:sp>
      <p:sp>
        <p:nvSpPr>
          <p:cNvPr id="10" name="Shape 4"/>
          <p:cNvSpPr/>
          <p:nvPr/>
        </p:nvSpPr>
        <p:spPr>
          <a:xfrm>
            <a:off x="8366760" y="2606040"/>
            <a:ext cx="548640" cy="548640"/>
          </a:xfrm>
          <a:prstGeom prst="ellipse">
            <a:avLst/>
          </a:prstGeom>
          <a:solidFill>
            <a:srgbClr val="ED7E2F"/>
          </a:solidFill>
          <a:ln w="12700">
            <a:solidFill>
              <a:srgbClr val="ED7E2F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74320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052560" y="258775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 en Outfit Black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profundo, máximo 3 líneas</a:t>
            </a:r>
            <a:endParaRPr lang="en-US" sz="1400" dirty="0"/>
          </a:p>
        </p:txBody>
      </p:sp>
      <p:sp>
        <p:nvSpPr>
          <p:cNvPr id="13" name="Shape 6"/>
          <p:cNvSpPr/>
          <p:nvPr/>
        </p:nvSpPr>
        <p:spPr>
          <a:xfrm>
            <a:off x="8366760" y="3566160"/>
            <a:ext cx="548640" cy="548640"/>
          </a:xfrm>
          <a:prstGeom prst="ellipse">
            <a:avLst/>
          </a:prstGeom>
          <a:solidFill>
            <a:srgbClr val="ED7E2F"/>
          </a:solidFill>
          <a:ln w="12700">
            <a:solidFill>
              <a:srgbClr val="ED7E2F"/>
            </a:solidFill>
            <a:prstDash val="solid"/>
          </a:ln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70332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9052560" y="35478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 seguras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px libres en stories</a:t>
            </a:r>
            <a:endParaRPr lang="en-US" sz="1400" dirty="0"/>
          </a:p>
        </p:txBody>
      </p:sp>
      <p:sp>
        <p:nvSpPr>
          <p:cNvPr id="16" name="Shape 8"/>
          <p:cNvSpPr/>
          <p:nvPr/>
        </p:nvSpPr>
        <p:spPr>
          <a:xfrm>
            <a:off x="8366760" y="4526280"/>
            <a:ext cx="548640" cy="548640"/>
          </a:xfrm>
          <a:prstGeom prst="ellipse">
            <a:avLst/>
          </a:prstGeom>
          <a:solidFill>
            <a:srgbClr val="ED7E2F"/>
          </a:solidFill>
          <a:ln w="12700">
            <a:solidFill>
              <a:srgbClr val="ED7E2F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663440"/>
            <a:ext cx="274320" cy="27432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9052560" y="450799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Profesional y cercano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WHATSAPP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Perfil de empresa y uso por parte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9824" cy="3291840"/>
          </a:xfrm>
          <a:prstGeom prst="roundRect">
            <a:avLst>
              <a:gd name="adj" fmla="val 2778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 corporativo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</a:rPr>
              <a:t>Foto: avatar símbolo frío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</a:rPr>
              <a:t>Nombre: Comercial Lismi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</a:rPr>
              <a:t>Info: C/ Camprodón, 34 · Terrassa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</a:rPr>
              <a:t>Dirección: C/ Camprodón, 34 · Terrassa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</a:rPr>
              <a:t>Mensajes de bienvenida y ausencia de la guía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0488" y="1691640"/>
            <a:ext cx="5449824" cy="3291840"/>
          </a:xfrm>
          <a:prstGeom prst="roundRect">
            <a:avLst>
              <a:gd name="adj" fmla="val 2778"/>
            </a:avLst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0528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2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Comerciales y colaboradores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5603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</a:rPr>
              <a:t>Perfil de empresa + «Nombre · Comercial Lismi»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</a:rPr>
              <a:t>WhatsApp personal: foto tuya, nunca el logo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</a:rPr>
              <a:t>Comparte el PDF oficial, no capturas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</a:rPr>
              <a:t>Estados con la plantilla de story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1D1B"/>
                </a:solidFill>
              </a:rPr>
              <a:t>Tono cercano y profesional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CONTROL DE CALIDAD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400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Checklist antes de publicar o imprimir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□"/>
            </a:pPr>
            <a:r>
              <a:rPr lang="en-US" sz="2200" dirty="0">
                <a:solidFill>
                  <a:srgbClr val="FFFFFF"/>
                </a:solidFill>
              </a:rPr>
              <a:t>¿Archivo oficial del kit y versión adecuada al espacio?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□"/>
            </a:pPr>
            <a:r>
              <a:rPr lang="en-US" sz="2200" dirty="0">
                <a:solidFill>
                  <a:srgbClr val="FFFFFF"/>
                </a:solidFill>
              </a:rPr>
              <a:t>¿El anillo conserva sus degradados o es la versión de una tinta?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□"/>
            </a:pPr>
            <a:r>
              <a:rPr lang="en-US" sz="2200" dirty="0">
                <a:solidFill>
                  <a:srgbClr val="FFFFFF"/>
                </a:solidFill>
              </a:rPr>
              <a:t>¿Área de respeto y tamaño mínimo correctos?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□"/>
            </a:pPr>
            <a:r>
              <a:rPr lang="en-US" sz="2200" dirty="0">
                <a:solidFill>
                  <a:srgbClr val="FFFFFF"/>
                </a:solidFill>
              </a:rPr>
              <a:t>¿Colores de la paleta Lismi y tipografía Outfit (o Arial)?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□"/>
            </a:pPr>
            <a:r>
              <a:rPr lang="en-US" sz="2200" dirty="0">
                <a:solidFill>
                  <a:srgbClr val="FFFFFF"/>
                </a:solidFill>
              </a:rPr>
              <a:t>¿«Partner de Montex» visible pero discreto?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□"/>
            </a:pPr>
            <a:r>
              <a:rPr lang="en-US" sz="2200" dirty="0">
                <a:solidFill>
                  <a:srgbClr val="FFFFFF"/>
                </a:solidFill>
              </a:rPr>
              <a:t>¿Prueba validada por Marketing antes de producir?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B9B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COMERCIAL LISMI, S.L.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2402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Gracias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931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Ante cualquier duda, consulta antes de publicar o producir · C/ Camprodón, 34 · 08227 Terrassa (Barcelona)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ercial Lismi">
  <a:themeElements>
    <a:clrScheme name="Comercial Lismi">
      <a:dk1>
        <a:srgbClr val="1D1D1B"/>
      </a:dk1>
      <a:lt1>
        <a:srgbClr val="FFFFFF"/>
      </a:lt1>
      <a:dk2>
        <a:srgbClr val="2E2E65"/>
      </a:dk2>
      <a:lt2>
        <a:srgbClr val="F3F6F9"/>
      </a:lt2>
      <a:accent1>
        <a:srgbClr val="ED7E2F"/>
      </a:accent1>
      <a:accent2>
        <a:srgbClr val="2A7AB8"/>
      </a:accent2>
      <a:accent3>
        <a:srgbClr val="4E8A2E"/>
      </a:accent3>
      <a:accent4>
        <a:srgbClr val="C8CF0A"/>
      </a:accent4>
      <a:accent5>
        <a:srgbClr val="5B6B78"/>
      </a:accent5>
      <a:accent6>
        <a:srgbClr val="EAF2F8"/>
      </a:accent6>
      <a:hlink>
        <a:srgbClr val="2A7AB8"/>
      </a:hlink>
      <a:folHlink>
        <a:srgbClr val="2E2E65"/>
      </a:folHlink>
    </a:clrScheme>
    <a:fontScheme name="Comercial Lism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guidelines Comercial Lismi</dc:title>
  <dc:subject>PptxGenJS Presentation</dc:subject>
  <dc:creator>Comercial Lismi</dc:creator>
  <cp:lastModifiedBy>Comercial Lismi</cp:lastModifiedBy>
  <cp:revision>1</cp:revision>
  <dcterms:created xsi:type="dcterms:W3CDTF">2026-10-09T07:16:41Z</dcterms:created>
  <dcterms:modified xsi:type="dcterms:W3CDTF">2026-10-09T07:16:41Z</dcterms:modified>
</cp:coreProperties>
</file>